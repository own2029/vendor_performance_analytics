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639DE-ABCA-7CE5-512C-A8E36F119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0879DB7-4AD0-8BAF-DD76-5A754F0FD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7C7AE83-8916-B0EF-CCA0-154A0D9E1C8A}"/>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3CBBFDF5-728C-49E7-3989-728CC9C5D9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0E52C42-8043-EE7B-276A-C1D0801ABF3F}"/>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685247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6500-4F00-E751-3A14-9FEAB7E6A76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55977D-9329-EA49-D8A9-7DB088675B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C9C238-18CB-F69F-1E65-05A63D97C80F}"/>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9C66F212-A522-275C-E151-C2B84C0277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45ABB4-E066-7245-2CDE-CAF0150F93B0}"/>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191042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EB9F-9605-37F6-6B64-FC6B4F4E08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1E50BDD-5565-3FAC-8B91-FB97974603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230926-3389-5394-E22C-3D7B3893283E}"/>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F6A2EA32-1FF0-AB75-10C7-C94A4B8014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107AA2-CB23-5F46-E807-F7B4ADFD4373}"/>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376564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7B9D-AF23-7CA6-D842-46EB9A43544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A3FC36D-CC84-28F0-393D-46E8CE3031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578F2D5-F73B-B2E4-C4C7-16756CE6A7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3649AA2-5BBE-2214-38A5-B4DBB52146FE}"/>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6" name="Footer Placeholder 5">
            <a:extLst>
              <a:ext uri="{FF2B5EF4-FFF2-40B4-BE49-F238E27FC236}">
                <a16:creationId xmlns:a16="http://schemas.microsoft.com/office/drawing/2014/main" id="{B8B67979-B2BE-6BFC-EDDA-D167CDA9735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A324C2-09F1-66BD-32B2-8F45AE09ED0B}"/>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666385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8433-1DD0-CE48-EFBF-4132D16C13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802AEB1-46C1-FDCA-11DC-2FB16257CE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B56598-F0B5-3991-1B6D-BFC92B4B69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F0E2B7-03F2-C34A-EEED-66DF5EF17F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C07679-8A0E-6310-DF43-D5074B41A0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3129F77-61C6-C5C9-FA80-992D6189133C}"/>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8" name="Footer Placeholder 7">
            <a:extLst>
              <a:ext uri="{FF2B5EF4-FFF2-40B4-BE49-F238E27FC236}">
                <a16:creationId xmlns:a16="http://schemas.microsoft.com/office/drawing/2014/main" id="{5ABD0A70-6C52-EA50-05D5-B4BADFDEFC1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B943ED4-4EC7-CB11-923C-9B6B20D38CD1}"/>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4091733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DCA8-BF63-67A1-2A9A-72AE6C95FC1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9E11661-B035-DA19-767D-435594CD9E9B}"/>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4" name="Footer Placeholder 3">
            <a:extLst>
              <a:ext uri="{FF2B5EF4-FFF2-40B4-BE49-F238E27FC236}">
                <a16:creationId xmlns:a16="http://schemas.microsoft.com/office/drawing/2014/main" id="{F5D7C9A6-F4BE-290E-6FD1-8B4A4D187EA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C0BA4EF-124C-6D9B-71FE-74AD1B6407AA}"/>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370459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A76CC7-1B2D-E720-5769-3DB707D2D7F5}"/>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3" name="Footer Placeholder 2">
            <a:extLst>
              <a:ext uri="{FF2B5EF4-FFF2-40B4-BE49-F238E27FC236}">
                <a16:creationId xmlns:a16="http://schemas.microsoft.com/office/drawing/2014/main" id="{918AA01B-FAB5-72A0-ACD3-AF476997D95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0C71F3B-5EA9-9158-B56A-F13E3F823F3A}"/>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27246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4EBCF-6E09-1432-044D-4263E8A2A2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5C95046-D00D-5785-BD1D-DEF680A82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815D756-BA89-B179-F19D-C90D777DF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FFFDFF-75CE-0FDB-7776-CE5078A189B8}"/>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6" name="Footer Placeholder 5">
            <a:extLst>
              <a:ext uri="{FF2B5EF4-FFF2-40B4-BE49-F238E27FC236}">
                <a16:creationId xmlns:a16="http://schemas.microsoft.com/office/drawing/2014/main" id="{0AA0A1D9-5905-A2F6-1009-D520185CFB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28F9A8A-4881-1057-EE4C-19B428716AB8}"/>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2822026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0473-2E38-2B13-35CA-D5F587BC2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AA26A6D-9543-02DB-106D-B32EF91ED3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C8A6509-8653-D285-700C-FD882B0A5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13530C-E047-012E-7C4C-72254068C819}"/>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6" name="Footer Placeholder 5">
            <a:extLst>
              <a:ext uri="{FF2B5EF4-FFF2-40B4-BE49-F238E27FC236}">
                <a16:creationId xmlns:a16="http://schemas.microsoft.com/office/drawing/2014/main" id="{D3E368F9-C23C-FE4A-8032-CEE5863FE5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95C8DD-8456-C595-751D-ABEF51FE32B5}"/>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705180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5378-9819-5F8D-D846-EF261B2E97E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34F5A9-F181-2F15-BB3A-F4C47141D8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2754B2-923E-5660-D7E6-DDDB04F3A2FA}"/>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FB9A58FC-D06E-D9EF-65BF-01CB5DCAF4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C89F27-E609-5E91-8B7E-6E7361F8E293}"/>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2392113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4C567-62A4-C02B-80B1-5D83F95C87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8AB1403-139C-2955-871F-ECC69FC81C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929485-856B-B073-BAE5-41C7944D9679}"/>
              </a:ext>
            </a:extLst>
          </p:cNvPr>
          <p:cNvSpPr>
            <a:spLocks noGrp="1"/>
          </p:cNvSpPr>
          <p:nvPr>
            <p:ph type="dt" sz="half" idx="10"/>
          </p:nvPr>
        </p:nvSpPr>
        <p:spPr/>
        <p:txBody>
          <a:body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8024312F-AC5B-B353-FA54-EDB5A3352F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83235B-6A6C-C579-EB5B-6EE2D97F26C6}"/>
              </a:ext>
            </a:extLst>
          </p:cNvPr>
          <p:cNvSpPr>
            <a:spLocks noGrp="1"/>
          </p:cNvSpPr>
          <p:nvPr>
            <p:ph type="sldNum" sz="quarter" idx="12"/>
          </p:nvPr>
        </p:nvSpPr>
        <p:spPr/>
        <p:txBody>
          <a:bodyPr/>
          <a:lstStyle/>
          <a:p>
            <a:fld id="{317B118B-9A29-45EB-BD49-ADFE4E07DEC8}" type="slidenum">
              <a:rPr lang="en-GB" smtClean="0"/>
              <a:t>‹#›</a:t>
            </a:fld>
            <a:endParaRPr lang="en-GB"/>
          </a:p>
        </p:txBody>
      </p:sp>
    </p:spTree>
    <p:extLst>
      <p:ext uri="{BB962C8B-B14F-4D97-AF65-F5344CB8AC3E}">
        <p14:creationId xmlns:p14="http://schemas.microsoft.com/office/powerpoint/2010/main" val="3466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A2042C-3731-DDB1-22AA-6F607C43B1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7654FF-B0E6-34A4-3ADE-0B509F4E37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C83657-F25C-F1D8-6989-98F20740C5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A20829-2EDC-4DFF-9DF0-DB653F9BB611}" type="datetimeFigureOut">
              <a:rPr lang="en-GB" smtClean="0"/>
              <a:t>10/05/2026</a:t>
            </a:fld>
            <a:endParaRPr lang="en-GB"/>
          </a:p>
        </p:txBody>
      </p:sp>
      <p:sp>
        <p:nvSpPr>
          <p:cNvPr id="5" name="Footer Placeholder 4">
            <a:extLst>
              <a:ext uri="{FF2B5EF4-FFF2-40B4-BE49-F238E27FC236}">
                <a16:creationId xmlns:a16="http://schemas.microsoft.com/office/drawing/2014/main" id="{90DCEB40-35EA-2B2F-E81C-078B9910EE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DD8D198-90A8-9650-86A2-3FB80F52F5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7B118B-9A29-45EB-BD49-ADFE4E07DEC8}" type="slidenum">
              <a:rPr lang="en-GB" smtClean="0"/>
              <a:t>‹#›</a:t>
            </a:fld>
            <a:endParaRPr lang="en-GB"/>
          </a:p>
        </p:txBody>
      </p:sp>
    </p:spTree>
    <p:extLst>
      <p:ext uri="{BB962C8B-B14F-4D97-AF65-F5344CB8AC3E}">
        <p14:creationId xmlns:p14="http://schemas.microsoft.com/office/powerpoint/2010/main" val="3166907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0D78-282A-FD1A-F5CD-5D0611C77D99}"/>
              </a:ext>
            </a:extLst>
          </p:cNvPr>
          <p:cNvSpPr>
            <a:spLocks noGrp="1"/>
          </p:cNvSpPr>
          <p:nvPr>
            <p:ph type="ctrTitle"/>
          </p:nvPr>
        </p:nvSpPr>
        <p:spPr>
          <a:xfrm>
            <a:off x="1524000" y="660248"/>
            <a:ext cx="9144000" cy="608114"/>
          </a:xfrm>
        </p:spPr>
        <p:txBody>
          <a:bodyPr>
            <a:normAutofit/>
          </a:bodyPr>
          <a:lstStyle/>
          <a:p>
            <a:r>
              <a:rPr lang="en-GB" sz="3600" b="1" dirty="0">
                <a:solidFill>
                  <a:schemeClr val="tx2">
                    <a:lumMod val="50000"/>
                    <a:lumOff val="50000"/>
                  </a:schemeClr>
                </a:solidFill>
              </a:rPr>
              <a:t>Business Problem</a:t>
            </a:r>
          </a:p>
        </p:txBody>
      </p:sp>
      <p:sp>
        <p:nvSpPr>
          <p:cNvPr id="3" name="Subtitle 2">
            <a:extLst>
              <a:ext uri="{FF2B5EF4-FFF2-40B4-BE49-F238E27FC236}">
                <a16:creationId xmlns:a16="http://schemas.microsoft.com/office/drawing/2014/main" id="{27941EBE-B239-37BD-7855-529CE7CCE722}"/>
              </a:ext>
            </a:extLst>
          </p:cNvPr>
          <p:cNvSpPr>
            <a:spLocks noGrp="1"/>
          </p:cNvSpPr>
          <p:nvPr>
            <p:ph type="subTitle" idx="1"/>
          </p:nvPr>
        </p:nvSpPr>
        <p:spPr>
          <a:xfrm>
            <a:off x="1524000" y="1438940"/>
            <a:ext cx="9144000" cy="5020853"/>
          </a:xfrm>
        </p:spPr>
        <p:txBody>
          <a:bodyPr>
            <a:normAutofit fontScale="92500" lnSpcReduction="10000"/>
          </a:bodyPr>
          <a:lstStyle/>
          <a:p>
            <a:pPr algn="just"/>
            <a:r>
              <a:rPr lang="en-GB" sz="2800" dirty="0"/>
              <a:t>Effective inventory and sales management are critical for optimizing profitability in the retail and wholesale industry. Companies need to ensure that they are not incurring losses due to inefficient pricing, poor inventory turnover or vendor dependency The goal of this analysis is to:</a:t>
            </a:r>
          </a:p>
          <a:p>
            <a:pPr marL="342900" indent="-342900" algn="just">
              <a:buFont typeface="Arial" panose="020B0604020202020204" pitchFamily="34" charset="0"/>
              <a:buChar char="•"/>
            </a:pPr>
            <a:r>
              <a:rPr lang="en-GB" sz="2800" dirty="0"/>
              <a:t>Identify underperforming brands that require promotional or pricing adjustments.</a:t>
            </a:r>
          </a:p>
          <a:p>
            <a:pPr marL="342900" indent="-342900" algn="just">
              <a:buFont typeface="Arial" panose="020B0604020202020204" pitchFamily="34" charset="0"/>
              <a:buChar char="•"/>
            </a:pPr>
            <a:r>
              <a:rPr lang="en-GB" sz="2800" dirty="0"/>
              <a:t>Determine top vendors contributing to sales and gross profit.</a:t>
            </a:r>
          </a:p>
          <a:p>
            <a:pPr marL="342900" indent="-342900" algn="just">
              <a:buFont typeface="Arial" panose="020B0604020202020204" pitchFamily="34" charset="0"/>
              <a:buChar char="•"/>
            </a:pPr>
            <a:r>
              <a:rPr lang="en-GB" sz="2800" dirty="0" err="1"/>
              <a:t>Anlayze</a:t>
            </a:r>
            <a:r>
              <a:rPr lang="en-GB" sz="2800" dirty="0"/>
              <a:t> the impact of bulk purchasing on unit costs.</a:t>
            </a:r>
          </a:p>
          <a:p>
            <a:pPr marL="342900" indent="-342900" algn="just">
              <a:buFont typeface="Arial" panose="020B0604020202020204" pitchFamily="34" charset="0"/>
              <a:buChar char="•"/>
            </a:pPr>
            <a:r>
              <a:rPr lang="en-GB" sz="2800" dirty="0"/>
              <a:t>Assess inventory turnover to reduce holding costs and improve efficiency.</a:t>
            </a:r>
          </a:p>
          <a:p>
            <a:pPr marL="342900" indent="-342900" algn="just">
              <a:buFont typeface="Arial" panose="020B0604020202020204" pitchFamily="34" charset="0"/>
              <a:buChar char="•"/>
            </a:pPr>
            <a:r>
              <a:rPr lang="en-GB" sz="2800" dirty="0"/>
              <a:t>Investigate the profitability variance between high-performing and </a:t>
            </a:r>
            <a:r>
              <a:rPr lang="en-GB" sz="2800"/>
              <a:t>low-performing vendors</a:t>
            </a:r>
            <a:r>
              <a:rPr lang="en-GB" sz="2800" dirty="0"/>
              <a:t>.</a:t>
            </a:r>
          </a:p>
        </p:txBody>
      </p:sp>
    </p:spTree>
    <p:extLst>
      <p:ext uri="{BB962C8B-B14F-4D97-AF65-F5344CB8AC3E}">
        <p14:creationId xmlns:p14="http://schemas.microsoft.com/office/powerpoint/2010/main" val="325709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99</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Business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2</cp:revision>
  <dcterms:created xsi:type="dcterms:W3CDTF">2026-05-10T05:14:06Z</dcterms:created>
  <dcterms:modified xsi:type="dcterms:W3CDTF">2026-05-10T05:20:51Z</dcterms:modified>
</cp:coreProperties>
</file>